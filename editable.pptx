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7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24000"/>
          </a:xfrm>
          <a:prstGeom prst="rect">
            <a:avLst/>
          </a:prstGeom>
          <a:solidFill>
            <a:srgbClr val="1817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1999" y="54000"/>
            <a:ext cx="144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AF9F5"/>
                </a:solidFill>
              </a:rPr>
              <a:t>✦ Antigravity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84000" y="54000"/>
            <a:ext cx="108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09D96"/>
                </a:solidFill>
              </a:rPr>
              <a:t>Intro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0000" y="540000"/>
            <a:ext cx="432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CC785C"/>
                </a:solidFill>
              </a:rPr>
              <a:t>ANTIGRAVITY · CLAUDE CODE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0000" y="756000"/>
            <a:ext cx="8064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 i="0">
                <a:solidFill>
                  <a:srgbClr val="FAF9F5"/>
                </a:solidFill>
              </a:rPr>
              <a:t>Building with Claude Code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1584000"/>
            <a:ext cx="54864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A09D96"/>
                </a:solidFill>
              </a:rPr>
              <a:t>From zero to your first prompt — in four slides.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1449000" y="2015999"/>
            <a:ext cx="3060000" cy="936000"/>
          </a:xfrm>
          <a:prstGeom prst="roundRect">
            <a:avLst>
              <a:gd name="adj" fmla="val 3529"/>
            </a:avLst>
          </a:prstGeom>
          <a:solidFill>
            <a:srgbClr val="252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11000" y="2105999"/>
            <a:ext cx="72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C785C"/>
                </a:solidFill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11000" y="2249999"/>
            <a:ext cx="2736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AF9F5"/>
                </a:solidFill>
              </a:rPr>
              <a:t>What is Antigravity?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11000" y="2465999"/>
            <a:ext cx="2736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9D96"/>
                </a:solidFill>
              </a:rPr>
              <a:t>An agentic dev environment built around Claude.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34999" y="2015999"/>
            <a:ext cx="3060000" cy="936000"/>
          </a:xfrm>
          <a:prstGeom prst="roundRect">
            <a:avLst>
              <a:gd name="adj" fmla="val 3529"/>
            </a:avLst>
          </a:prstGeom>
          <a:solidFill>
            <a:srgbClr val="252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96999" y="2105999"/>
            <a:ext cx="72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C785C"/>
                </a:solidFill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96999" y="2249999"/>
            <a:ext cx="2736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AF9F5"/>
                </a:solidFill>
              </a:rPr>
              <a:t>Claude Code as a Plugin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96999" y="2465999"/>
            <a:ext cx="2736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9D96"/>
                </a:solidFill>
              </a:rPr>
              <a:t>Not a separate app — a plugin, wired in.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449000" y="3077998"/>
            <a:ext cx="3060000" cy="936000"/>
          </a:xfrm>
          <a:prstGeom prst="roundRect">
            <a:avLst>
              <a:gd name="adj" fmla="val 3529"/>
            </a:avLst>
          </a:prstGeom>
          <a:solidFill>
            <a:srgbClr val="252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611000" y="3167998"/>
            <a:ext cx="72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C785C"/>
                </a:solidFill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11000" y="3311998"/>
            <a:ext cx="2736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AF9F5"/>
                </a:solidFill>
              </a:rPr>
              <a:t>Adding a Project Folder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11000" y="3527998"/>
            <a:ext cx="2736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9D96"/>
                </a:solidFill>
              </a:rPr>
              <a:t>Drop in a folder. Claude Code indexes it.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34999" y="3077998"/>
            <a:ext cx="3060000" cy="936000"/>
          </a:xfrm>
          <a:prstGeom prst="roundRect">
            <a:avLst>
              <a:gd name="adj" fmla="val 3529"/>
            </a:avLst>
          </a:prstGeom>
          <a:solidFill>
            <a:srgbClr val="252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96999" y="3167998"/>
            <a:ext cx="72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C785C"/>
                </a:solidFill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96999" y="3311998"/>
            <a:ext cx="2736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AF9F5"/>
                </a:solidFill>
              </a:rPr>
              <a:t>Sending a Prompt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96999" y="3527998"/>
            <a:ext cx="2736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9D96"/>
                </a:solidFill>
              </a:rPr>
              <a:t>Type what you want. Claude Code acts.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0" y="4927500"/>
            <a:ext cx="9144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C6A64"/>
                </a:solidFill>
              </a:rPr>
              <a:t>Use ← → arrow keys to navigate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24000"/>
          </a:xfrm>
          <a:prstGeom prst="rect">
            <a:avLst/>
          </a:prstGeom>
          <a:solidFill>
            <a:srgbClr val="FA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1999" y="54000"/>
            <a:ext cx="144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41413"/>
                </a:solidFill>
              </a:rPr>
              <a:t>✦ Antigravity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84000" y="54000"/>
            <a:ext cx="108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C6A64"/>
                </a:solidFill>
              </a:rPr>
              <a:t>1 /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2000" y="684000"/>
            <a:ext cx="432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C785C"/>
                </a:solidFill>
              </a:rPr>
              <a:t>01 — ANTIGRAVITY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2000" y="882000"/>
            <a:ext cx="3960000" cy="93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0" i="0">
                <a:solidFill>
                  <a:srgbClr val="141413"/>
                </a:solidFill>
              </a:rPr>
              <a:t>Meet
Antigravity.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2000" y="1872000"/>
            <a:ext cx="378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D3D3A"/>
                </a:solidFill>
              </a:rPr>
              <a:t>An agentic dev environment built around Claude —
AI and code in the same place.</a:t>
            </a:r>
          </a:p>
        </p:txBody>
      </p:sp>
      <p:sp>
        <p:nvSpPr>
          <p:cNvPr id="8" name="Rectangle 7"/>
          <p:cNvSpPr/>
          <p:nvPr/>
        </p:nvSpPr>
        <p:spPr>
          <a:xfrm>
            <a:off x="4752000" y="612000"/>
            <a:ext cx="4176000" cy="2808000"/>
          </a:xfrm>
          <a:prstGeom prst="roundRect">
            <a:avLst>
              <a:gd name="adj" fmla="val 3448"/>
            </a:avLst>
          </a:prstGeom>
          <a:solidFill>
            <a:srgbClr val="1817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2000" y="612000"/>
            <a:ext cx="4176000" cy="2808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280000" y="3168001"/>
            <a:ext cx="648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C785C"/>
                </a:solidFill>
              </a:rPr>
              <a:t>Plugins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96000" y="756000"/>
            <a:ext cx="648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5DB8A6"/>
                </a:solidFill>
              </a:rPr>
              <a:t>Agents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96000" y="3168001"/>
            <a:ext cx="648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8A55A"/>
                </a:solidFill>
              </a:rPr>
              <a:t>Projects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2000" y="3564000"/>
            <a:ext cx="2880000" cy="900000"/>
          </a:xfrm>
          <a:prstGeom prst="roundRect">
            <a:avLst>
              <a:gd name="adj" fmla="val 3750"/>
            </a:avLst>
          </a:prstGeom>
          <a:solidFill>
            <a:srgbClr val="EFE9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2000" y="3708000"/>
            <a:ext cx="252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41413"/>
                </a:solidFill>
              </a:rPr>
              <a:t>Plugin-first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000" y="3924000"/>
            <a:ext cx="2520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D3D3A"/>
                </a:solidFill>
              </a:rPr>
              <a:t>Every capability is a plugin. Add, remove, compose.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37999" y="3564000"/>
            <a:ext cx="2880000" cy="900000"/>
          </a:xfrm>
          <a:prstGeom prst="roundRect">
            <a:avLst>
              <a:gd name="adj" fmla="val 3750"/>
            </a:avLst>
          </a:prstGeom>
          <a:solidFill>
            <a:srgbClr val="EFE9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17999" y="3708000"/>
            <a:ext cx="252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41413"/>
                </a:solidFill>
              </a:rPr>
              <a:t>Project-aware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17999" y="3924000"/>
            <a:ext cx="2520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D3D3A"/>
                </a:solidFill>
              </a:rPr>
              <a:t>Drop in a folder. Your whole codebase becomes live context.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43998" y="3564000"/>
            <a:ext cx="2880000" cy="900000"/>
          </a:xfrm>
          <a:prstGeom prst="roundRect">
            <a:avLst>
              <a:gd name="adj" fmla="val 3750"/>
            </a:avLst>
          </a:prstGeom>
          <a:solidFill>
            <a:srgbClr val="EFE9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23998" y="3708000"/>
            <a:ext cx="252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41413"/>
                </a:solidFill>
              </a:rPr>
              <a:t>One-prompt flows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3998" y="3924000"/>
            <a:ext cx="2520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D3D3A"/>
                </a:solidFill>
              </a:rPr>
              <a:t>One prompt. Agents, tools, and code edits — handled.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7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24000"/>
          </a:xfrm>
          <a:prstGeom prst="rect">
            <a:avLst/>
          </a:prstGeom>
          <a:solidFill>
            <a:srgbClr val="1817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1999" y="54000"/>
            <a:ext cx="144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AF9F5"/>
                </a:solidFill>
              </a:rPr>
              <a:t>✦ Antigravity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84000" y="54000"/>
            <a:ext cx="108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09D96"/>
                </a:solidFill>
              </a:rPr>
              <a:t>2 /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2000" y="684000"/>
            <a:ext cx="432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C785C"/>
                </a:solidFill>
              </a:rPr>
              <a:t>02 — PLUGIN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2000" y="882000"/>
            <a:ext cx="378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0" i="0">
                <a:solidFill>
                  <a:srgbClr val="FAF9F5"/>
                </a:solidFill>
              </a:rPr>
              <a:t>Claude Code lives
inside Antigravity.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2000" y="1818000"/>
            <a:ext cx="37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09D96"/>
                </a:solidFill>
              </a:rPr>
              <a:t>Not a separate app. A plugin — toggled on, wired into your project.</a:t>
            </a:r>
          </a:p>
        </p:txBody>
      </p:sp>
      <p:sp>
        <p:nvSpPr>
          <p:cNvPr id="8" name="Rectangle 7"/>
          <p:cNvSpPr/>
          <p:nvPr/>
        </p:nvSpPr>
        <p:spPr>
          <a:xfrm>
            <a:off x="432000" y="2242800"/>
            <a:ext cx="64800" cy="64800"/>
          </a:xfrm>
          <a:prstGeom prst="rect">
            <a:avLst/>
          </a:prstGeom>
          <a:solidFill>
            <a:srgbClr val="CC7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1600" y="2178000"/>
            <a:ext cx="864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AF9F5"/>
                </a:solidFill>
              </a:rPr>
              <a:t>Instant context.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39999" y="2178000"/>
            <a:ext cx="2736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9D96"/>
                </a:solidFill>
              </a:rPr>
              <a:t>Reads your codebase the moment it's enabled.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2000" y="2494799"/>
            <a:ext cx="64800" cy="64800"/>
          </a:xfrm>
          <a:prstGeom prst="rect">
            <a:avLst/>
          </a:prstGeom>
          <a:solidFill>
            <a:srgbClr val="5D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1600" y="2429999"/>
            <a:ext cx="864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AF9F5"/>
                </a:solidFill>
              </a:rPr>
              <a:t>Side-by-side.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39999" y="2429999"/>
            <a:ext cx="2736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9D96"/>
                </a:solidFill>
              </a:rPr>
              <a:t>Terminal panel in the same window — no switching.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2000" y="2746798"/>
            <a:ext cx="64800" cy="64800"/>
          </a:xfrm>
          <a:prstGeom prst="rect">
            <a:avLst/>
          </a:prstGeom>
          <a:solidFill>
            <a:srgbClr val="E8A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1600" y="2681998"/>
            <a:ext cx="864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AF9F5"/>
                </a:solidFill>
              </a:rPr>
              <a:t>Composable.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39999" y="2681998"/>
            <a:ext cx="2736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9D96"/>
                </a:solidFill>
              </a:rPr>
              <a:t>Mix with other plugins in one flow.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680000" y="612000"/>
            <a:ext cx="4320000" cy="3780000"/>
          </a:xfrm>
          <a:prstGeom prst="roundRect">
            <a:avLst>
              <a:gd name="adj" fmla="val 2500"/>
            </a:avLst>
          </a:prstGeom>
          <a:solidFill>
            <a:srgbClr val="252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680000" y="612000"/>
            <a:ext cx="4320000" cy="234000"/>
          </a:xfrm>
          <a:prstGeom prst="rect">
            <a:avLst/>
          </a:prstGeom>
          <a:solidFill>
            <a:srgbClr val="1F1E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40000" y="648000"/>
            <a:ext cx="3888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9D96"/>
                </a:solidFill>
              </a:rPr>
              <a:t>Antigravity — Plugins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770000" y="691200"/>
            <a:ext cx="72000" cy="72000"/>
          </a:xfrm>
          <a:prstGeom prst="rect">
            <a:avLst/>
          </a:prstGeom>
          <a:solidFill>
            <a:srgbClr val="C6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878000" y="691200"/>
            <a:ext cx="72000" cy="72000"/>
          </a:xfrm>
          <a:prstGeom prst="rect">
            <a:avLst/>
          </a:prstGeom>
          <a:solidFill>
            <a:srgbClr val="E8A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986000" y="691200"/>
            <a:ext cx="72000" cy="72000"/>
          </a:xfrm>
          <a:prstGeom prst="rect">
            <a:avLst/>
          </a:prstGeom>
          <a:solidFill>
            <a:srgbClr val="5DB8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805999" y="900000"/>
            <a:ext cx="4068001" cy="432000"/>
          </a:xfrm>
          <a:prstGeom prst="roundRect">
            <a:avLst>
              <a:gd name="adj" fmla="val 1769"/>
            </a:avLst>
          </a:prstGeom>
          <a:solidFill>
            <a:srgbClr val="201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805999" y="900000"/>
            <a:ext cx="4068001" cy="432000"/>
          </a:xfrm>
          <a:prstGeom prst="rect">
            <a:avLst/>
          </a:prstGeom>
          <a:noFill/>
          <a:ln w="19050">
            <a:solidFill>
              <a:srgbClr val="CC7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40000" y="943200"/>
            <a:ext cx="3420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AF9F5"/>
                </a:solidFill>
              </a:rPr>
              <a:t>✦ Claude Code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40000" y="1116000"/>
            <a:ext cx="342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9D96"/>
                </a:solidFill>
              </a:rPr>
              <a:t>AI pair programmer &amp; agent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640000" y="1062000"/>
            <a:ext cx="198000" cy="108000"/>
          </a:xfrm>
          <a:prstGeom prst="roundRect">
            <a:avLst>
              <a:gd name="adj" fmla="val 27272"/>
            </a:avLst>
          </a:prstGeom>
          <a:solidFill>
            <a:srgbClr val="CC7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805999" y="1386000"/>
            <a:ext cx="4068001" cy="432000"/>
          </a:xfrm>
          <a:prstGeom prst="roundRect">
            <a:avLst>
              <a:gd name="adj" fmla="val 1769"/>
            </a:avLst>
          </a:prstGeom>
          <a:solidFill>
            <a:srgbClr val="201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40000" y="1429200"/>
            <a:ext cx="3420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AF9F5"/>
                </a:solidFill>
              </a:rPr>
              <a:t>⌥ Git &amp; Branches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40000" y="1602000"/>
            <a:ext cx="342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9D96"/>
                </a:solidFill>
              </a:rPr>
              <a:t>Inline diff, blame, history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640000" y="1548000"/>
            <a:ext cx="198000" cy="108000"/>
          </a:xfrm>
          <a:prstGeom prst="roundRect">
            <a:avLst>
              <a:gd name="adj" fmla="val 27272"/>
            </a:avLst>
          </a:prstGeom>
          <a:solidFill>
            <a:srgbClr val="CC7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805999" y="1872000"/>
            <a:ext cx="4068001" cy="432000"/>
          </a:xfrm>
          <a:prstGeom prst="roundRect">
            <a:avLst>
              <a:gd name="adj" fmla="val 1769"/>
            </a:avLst>
          </a:prstGeom>
          <a:solidFill>
            <a:srgbClr val="201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40000" y="1915200"/>
            <a:ext cx="3420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AF9F5"/>
                </a:solidFill>
              </a:rPr>
              <a:t>✓ Test Runner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40000" y="2088000"/>
            <a:ext cx="342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9D96"/>
                </a:solidFill>
              </a:rPr>
              <a:t>Jest, Vitest, pytest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640000" y="2034000"/>
            <a:ext cx="198000" cy="108000"/>
          </a:xfrm>
          <a:prstGeom prst="roundRect">
            <a:avLst>
              <a:gd name="adj" fmla="val 27272"/>
            </a:avLst>
          </a:prstGeom>
          <a:solidFill>
            <a:srgbClr val="CC7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805999" y="2358000"/>
            <a:ext cx="4068001" cy="432000"/>
          </a:xfrm>
          <a:prstGeom prst="roundRect">
            <a:avLst>
              <a:gd name="adj" fmla="val 1769"/>
            </a:avLst>
          </a:prstGeom>
          <a:solidFill>
            <a:srgbClr val="1F1E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40000" y="2401200"/>
            <a:ext cx="3420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09D96"/>
                </a:solidFill>
              </a:rPr>
              <a:t>◇ Deploy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40000" y="2574000"/>
            <a:ext cx="342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9D96"/>
                </a:solidFill>
              </a:rPr>
              <a:t>Vercel, Railway, Fly.io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640000" y="2520000"/>
            <a:ext cx="198000" cy="108000"/>
          </a:xfrm>
          <a:prstGeom prst="roundRect">
            <a:avLst>
              <a:gd name="adj" fmla="val 27272"/>
            </a:avLst>
          </a:prstGeom>
          <a:solidFill>
            <a:srgbClr val="252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805999" y="2844000"/>
            <a:ext cx="4068001" cy="432000"/>
          </a:xfrm>
          <a:prstGeom prst="roundRect">
            <a:avLst>
              <a:gd name="adj" fmla="val 1769"/>
            </a:avLst>
          </a:prstGeom>
          <a:solidFill>
            <a:srgbClr val="1F1E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040000" y="2887200"/>
            <a:ext cx="3420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09D96"/>
                </a:solidFill>
              </a:rPr>
              <a:t>≡ Linter &amp; Formatter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40000" y="3060000"/>
            <a:ext cx="342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9D96"/>
                </a:solidFill>
              </a:rPr>
              <a:t>ESLint, Prettier, Ruff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640000" y="3006000"/>
            <a:ext cx="198000" cy="108000"/>
          </a:xfrm>
          <a:prstGeom prst="roundRect">
            <a:avLst>
              <a:gd name="adj" fmla="val 27272"/>
            </a:avLst>
          </a:prstGeom>
          <a:solidFill>
            <a:srgbClr val="252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680000" y="4482000"/>
            <a:ext cx="4320000" cy="288000"/>
          </a:xfrm>
          <a:prstGeom prst="roundRect">
            <a:avLst>
              <a:gd name="adj" fmla="val 2083"/>
            </a:avLst>
          </a:prstGeom>
          <a:solidFill>
            <a:srgbClr val="221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860000" y="4536000"/>
            <a:ext cx="396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9D96"/>
                </a:solidFill>
              </a:rPr>
              <a:t>Claude Code is on by default. Everything else is optional.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24000"/>
          </a:xfrm>
          <a:prstGeom prst="rect">
            <a:avLst/>
          </a:prstGeom>
          <a:solidFill>
            <a:srgbClr val="FA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1999" y="54000"/>
            <a:ext cx="144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41413"/>
                </a:solidFill>
              </a:rPr>
              <a:t>✦ Antigravity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84000" y="54000"/>
            <a:ext cx="108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C6A64"/>
                </a:solidFill>
              </a:rPr>
              <a:t>3 /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2000" y="648000"/>
            <a:ext cx="432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C785C"/>
                </a:solidFill>
              </a:rPr>
              <a:t>03 — SETUP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2000" y="846000"/>
            <a:ext cx="396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0" i="0">
                <a:solidFill>
                  <a:srgbClr val="141413"/>
                </a:solidFill>
              </a:rPr>
              <a:t>Add your project folder.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2000" y="1458000"/>
            <a:ext cx="39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D3D3A"/>
                </a:solidFill>
              </a:rPr>
              <a:t>Three steps. Drop in a folder, Claude Code indexes it, you're ready.</a:t>
            </a:r>
          </a:p>
        </p:txBody>
      </p:sp>
      <p:sp>
        <p:nvSpPr>
          <p:cNvPr id="8" name="Rectangle 7"/>
          <p:cNvSpPr/>
          <p:nvPr/>
        </p:nvSpPr>
        <p:spPr>
          <a:xfrm>
            <a:off x="432000" y="1782000"/>
            <a:ext cx="234000" cy="234000"/>
          </a:xfrm>
          <a:prstGeom prst="rect">
            <a:avLst/>
          </a:prstGeom>
          <a:solidFill>
            <a:srgbClr val="CC7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0000" y="1818000"/>
            <a:ext cx="198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2000" y="1800000"/>
            <a:ext cx="3311999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41413"/>
                </a:solidFill>
              </a:rPr>
              <a:t>Open Antigravity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000" y="1980000"/>
            <a:ext cx="3311999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D3D3A"/>
                </a:solidFill>
              </a:rPr>
              <a:t>Land on the Projects screen.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2800" y="2016000"/>
            <a:ext cx="25200" cy="558000"/>
          </a:xfrm>
          <a:prstGeom prst="rect">
            <a:avLst/>
          </a:prstGeom>
          <a:solidFill>
            <a:srgbClr val="E6D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2000" y="2574000"/>
            <a:ext cx="234000" cy="234000"/>
          </a:xfrm>
          <a:prstGeom prst="rect">
            <a:avLst/>
          </a:prstGeom>
          <a:solidFill>
            <a:srgbClr val="CC7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0000" y="2610000"/>
            <a:ext cx="198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CC785C"/>
                </a:solidFill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2000" y="2592000"/>
            <a:ext cx="3311999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41413"/>
                </a:solidFill>
              </a:rPr>
              <a:t>Drop in your folder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2000" y="2772000"/>
            <a:ext cx="3311999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D3D3A"/>
                </a:solidFill>
              </a:rPr>
              <a:t>Drag a folder into the drop zone, or click Open folder.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32800" y="2808000"/>
            <a:ext cx="25200" cy="558000"/>
          </a:xfrm>
          <a:prstGeom prst="rect">
            <a:avLst/>
          </a:prstGeom>
          <a:solidFill>
            <a:srgbClr val="E6D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2000" y="3366000"/>
            <a:ext cx="234000" cy="234000"/>
          </a:xfrm>
          <a:prstGeom prst="rect">
            <a:avLst/>
          </a:prstGeom>
          <a:solidFill>
            <a:srgbClr val="FA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0000" y="3402000"/>
            <a:ext cx="198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6C6A64"/>
                </a:solidFill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2000" y="3384000"/>
            <a:ext cx="3311999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C6A64"/>
                </a:solidFill>
              </a:rPr>
              <a:t>Claude Code indexes 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2000" y="3564000"/>
            <a:ext cx="3311999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E8B82"/>
                </a:solidFill>
              </a:rPr>
              <a:t>Files scanned. Prompt bar unlocks. You're ready.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680000" y="575999"/>
            <a:ext cx="4392000" cy="3960000"/>
          </a:xfrm>
          <a:prstGeom prst="roundRect">
            <a:avLst>
              <a:gd name="adj" fmla="val 3278"/>
            </a:avLst>
          </a:prstGeom>
          <a:solidFill>
            <a:srgbClr val="1817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680000" y="575999"/>
            <a:ext cx="4392000" cy="234000"/>
          </a:xfrm>
          <a:prstGeom prst="rect">
            <a:avLst/>
          </a:prstGeom>
          <a:solidFill>
            <a:srgbClr val="252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40000" y="619199"/>
            <a:ext cx="3960000" cy="15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9D96"/>
                </a:solidFill>
              </a:rPr>
              <a:t>Antigravity — Open Project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770000" y="655199"/>
            <a:ext cx="72000" cy="72000"/>
          </a:xfrm>
          <a:prstGeom prst="rect">
            <a:avLst/>
          </a:prstGeom>
          <a:solidFill>
            <a:srgbClr val="C6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878000" y="655199"/>
            <a:ext cx="72000" cy="72000"/>
          </a:xfrm>
          <a:prstGeom prst="rect">
            <a:avLst/>
          </a:prstGeom>
          <a:solidFill>
            <a:srgbClr val="E8A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986000" y="655199"/>
            <a:ext cx="72000" cy="72000"/>
          </a:xfrm>
          <a:prstGeom prst="rect">
            <a:avLst/>
          </a:prstGeom>
          <a:solidFill>
            <a:srgbClr val="5DB8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680000" y="809999"/>
            <a:ext cx="1296000" cy="3726000"/>
          </a:xfrm>
          <a:prstGeom prst="rect">
            <a:avLst/>
          </a:prstGeom>
          <a:solidFill>
            <a:srgbClr val="1F1E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52000" y="881999"/>
            <a:ext cx="1188000" cy="15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A55A"/>
                </a:solidFill>
              </a:rPr>
              <a:t>📁 my-project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52000" y="1054799"/>
            <a:ext cx="1188000" cy="15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09D96"/>
                </a:solidFill>
              </a:rPr>
              <a:t>  📂 src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52000" y="1227599"/>
            <a:ext cx="1188000" cy="15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DB8A6"/>
                </a:solidFill>
              </a:rPr>
              <a:t>    index.ts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52000" y="1400399"/>
            <a:ext cx="1188000" cy="15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09D96"/>
                </a:solidFill>
              </a:rPr>
              <a:t>    app.ts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52000" y="1573199"/>
            <a:ext cx="1188000" cy="15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09D96"/>
                </a:solidFill>
              </a:rPr>
              <a:t>  📂 tests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52000" y="1745999"/>
            <a:ext cx="1188000" cy="15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09D96"/>
                </a:solidFill>
              </a:rPr>
              <a:t>  package.json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048000" y="899999"/>
            <a:ext cx="2952000" cy="1620000"/>
          </a:xfrm>
          <a:prstGeom prst="rect">
            <a:avLst/>
          </a:prstGeom>
          <a:noFill/>
          <a:ln w="19050">
            <a:solidFill>
              <a:srgbClr val="CC785C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048000" y="1367999"/>
            <a:ext cx="2952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A09D96"/>
                </a:solidFill>
              </a:rPr>
              <a:t>Drop a folder here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048000" y="1583999"/>
            <a:ext cx="2952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09D96"/>
                </a:solidFill>
              </a:rPr>
              <a:t>or click to browse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020000" y="1799999"/>
            <a:ext cx="1007999" cy="198000"/>
          </a:xfrm>
          <a:prstGeom prst="roundRect">
            <a:avLst>
              <a:gd name="adj" fmla="val 5357"/>
            </a:avLst>
          </a:prstGeom>
          <a:solidFill>
            <a:srgbClr val="2E1F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020000" y="1828799"/>
            <a:ext cx="1007999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CC785C"/>
                </a:solidFill>
              </a:rPr>
              <a:t>Open folder…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048000" y="2663999"/>
            <a:ext cx="2952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A09D96"/>
                </a:solidFill>
              </a:rPr>
              <a:t>RECENT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048000" y="2843999"/>
            <a:ext cx="2952000" cy="259200"/>
          </a:xfrm>
          <a:prstGeom prst="roundRect">
            <a:avLst>
              <a:gd name="adj" fmla="val 2439"/>
            </a:avLst>
          </a:prstGeom>
          <a:solidFill>
            <a:srgbClr val="252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156000" y="2869199"/>
            <a:ext cx="2304000" cy="1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AF9F5"/>
                </a:solidFill>
              </a:rPr>
              <a:t>my-project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156000" y="2980799"/>
            <a:ext cx="2304000" cy="10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09D96"/>
                </a:solidFill>
              </a:rPr>
              <a:t>~/Documents/my-project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568000" y="2915999"/>
            <a:ext cx="360000" cy="108000"/>
          </a:xfrm>
          <a:prstGeom prst="roundRect">
            <a:avLst>
              <a:gd name="adj" fmla="val 10000"/>
            </a:avLst>
          </a:prstGeom>
          <a:solidFill>
            <a:srgbClr val="2E1F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568000" y="2915999"/>
            <a:ext cx="360000" cy="1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CC785C"/>
                </a:solidFill>
              </a:rPr>
              <a:t>Open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048000" y="3023999"/>
            <a:ext cx="2952000" cy="259200"/>
          </a:xfrm>
          <a:prstGeom prst="roundRect">
            <a:avLst>
              <a:gd name="adj" fmla="val 2439"/>
            </a:avLst>
          </a:prstGeom>
          <a:solidFill>
            <a:srgbClr val="252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56000" y="3049199"/>
            <a:ext cx="2304000" cy="1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AF9F5"/>
                </a:solidFill>
              </a:rPr>
              <a:t>api-service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156000" y="3160799"/>
            <a:ext cx="2304000" cy="10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09D96"/>
                </a:solidFill>
              </a:rPr>
              <a:t>~/Work/api-service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568000" y="3095999"/>
            <a:ext cx="360000" cy="108000"/>
          </a:xfrm>
          <a:prstGeom prst="roundRect">
            <a:avLst>
              <a:gd name="adj" fmla="val 10000"/>
            </a:avLst>
          </a:prstGeom>
          <a:solidFill>
            <a:srgbClr val="2E1F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568000" y="3095999"/>
            <a:ext cx="360000" cy="1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CC785C"/>
                </a:solidFill>
              </a:rPr>
              <a:t>Open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7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24000"/>
          </a:xfrm>
          <a:prstGeom prst="rect">
            <a:avLst/>
          </a:prstGeom>
          <a:solidFill>
            <a:srgbClr val="1817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1999" y="54000"/>
            <a:ext cx="144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AF9F5"/>
                </a:solidFill>
              </a:rPr>
              <a:t>✦ Antigravity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84000" y="54000"/>
            <a:ext cx="108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09D96"/>
                </a:solidFill>
              </a:rPr>
              <a:t>4 /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2000" y="648000"/>
            <a:ext cx="432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C785C"/>
                </a:solidFill>
              </a:rPr>
              <a:t>04 — PROMPT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2000" y="846000"/>
            <a:ext cx="378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0" i="0">
                <a:solidFill>
                  <a:srgbClr val="FAF9F5"/>
                </a:solidFill>
              </a:rPr>
              <a:t>Apples an bananas.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2000" y="1458000"/>
            <a:ext cx="37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09D96"/>
                </a:solidFill>
              </a:rPr>
              <a:t>Type what you want. Claude Code reads your codebase and acts.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32000" y="1800000"/>
            <a:ext cx="503999" cy="151200"/>
          </a:xfrm>
          <a:prstGeom prst="roundRect">
            <a:avLst>
              <a:gd name="adj" fmla="val 8571"/>
            </a:avLst>
          </a:prstGeom>
          <a:solidFill>
            <a:srgbClr val="2E1F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2000" y="1818000"/>
            <a:ext cx="503999" cy="125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CC785C"/>
                </a:solidFill>
              </a:rPr>
              <a:t>verb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8000" y="1800000"/>
            <a:ext cx="1152000" cy="15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AF9F5"/>
                </a:solidFill>
              </a:rPr>
              <a:t>Start with an action.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6000" y="1800000"/>
            <a:ext cx="2088000" cy="15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9D96"/>
                </a:solidFill>
              </a:rPr>
              <a:t>Add, Fix, Refactor, Write tests for.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2000" y="2070000"/>
            <a:ext cx="503999" cy="151200"/>
          </a:xfrm>
          <a:prstGeom prst="roundRect">
            <a:avLst>
              <a:gd name="adj" fmla="val 8571"/>
            </a:avLst>
          </a:prstGeom>
          <a:solidFill>
            <a:srgbClr val="2E1F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2000" y="2088000"/>
            <a:ext cx="503999" cy="125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CC785C"/>
                </a:solidFill>
              </a:rPr>
              <a:t>scope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8000" y="2070000"/>
            <a:ext cx="1152000" cy="15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AF9F5"/>
                </a:solidFill>
              </a:rPr>
              <a:t>Name the thing.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6000" y="2070000"/>
            <a:ext cx="2088000" cy="15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9D96"/>
                </a:solidFill>
              </a:rPr>
              <a:t>A file, a function, a feature.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2000" y="2340000"/>
            <a:ext cx="503999" cy="151200"/>
          </a:xfrm>
          <a:prstGeom prst="roundRect">
            <a:avLst>
              <a:gd name="adj" fmla="val 8571"/>
            </a:avLst>
          </a:prstGeom>
          <a:solidFill>
            <a:srgbClr val="2E1F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2000" y="2358000"/>
            <a:ext cx="503999" cy="125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CC785C"/>
                </a:solidFill>
              </a:rPr>
              <a:t>context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8000" y="2340000"/>
            <a:ext cx="1152000" cy="15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AF9F5"/>
                </a:solidFill>
              </a:rPr>
              <a:t>Add constraints.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6000" y="2340000"/>
            <a:ext cx="2088000" cy="15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9D96"/>
                </a:solidFill>
              </a:rPr>
              <a:t>"without breaking tests", "using the pattern in auth.ts".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80000" y="612000"/>
            <a:ext cx="4320000" cy="648000"/>
          </a:xfrm>
          <a:prstGeom prst="roundRect">
            <a:avLst>
              <a:gd name="adj" fmla="val 2500"/>
            </a:avLst>
          </a:prstGeom>
          <a:solidFill>
            <a:srgbClr val="252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680000" y="612000"/>
            <a:ext cx="4320000" cy="648000"/>
          </a:xfrm>
          <a:prstGeom prst="rect">
            <a:avLst/>
          </a:prstGeom>
          <a:noFill/>
          <a:ln w="19050">
            <a:solidFill>
              <a:srgbClr val="CC7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24000" y="676800"/>
            <a:ext cx="4032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AF9F5"/>
                </a:solidFill>
              </a:rPr>
              <a:t>Add a rate-limit middleware to src/app.ts, using the pattern in src/auth.ts, without breaking existing tests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680000" y="1062000"/>
            <a:ext cx="4320000" cy="198000"/>
          </a:xfrm>
          <a:prstGeom prst="rect">
            <a:avLst/>
          </a:prstGeom>
          <a:solidFill>
            <a:srgbClr val="1F1E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88000" y="1080000"/>
            <a:ext cx="108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09D96"/>
                </a:solidFill>
              </a:rPr>
              <a:t>⌘ K  Commands     @  Files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424000" y="1080000"/>
            <a:ext cx="468000" cy="144000"/>
          </a:xfrm>
          <a:prstGeom prst="roundRect">
            <a:avLst>
              <a:gd name="adj" fmla="val 9230"/>
            </a:avLst>
          </a:prstGeom>
          <a:solidFill>
            <a:srgbClr val="CC7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24000" y="1087200"/>
            <a:ext cx="468000" cy="136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Send →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680000" y="1360800"/>
            <a:ext cx="4320000" cy="1980000"/>
          </a:xfrm>
          <a:prstGeom prst="roundRect">
            <a:avLst>
              <a:gd name="adj" fmla="val 2500"/>
            </a:avLst>
          </a:prstGeom>
          <a:solidFill>
            <a:srgbClr val="1F1E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680000" y="1360800"/>
            <a:ext cx="4320000" cy="216000"/>
          </a:xfrm>
          <a:prstGeom prst="rect">
            <a:avLst/>
          </a:prstGeom>
          <a:solidFill>
            <a:srgbClr val="252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40000" y="1396800"/>
            <a:ext cx="3888000" cy="15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9D96"/>
                </a:solidFill>
              </a:rPr>
              <a:t>Claude Code — Terminal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770000" y="1432800"/>
            <a:ext cx="64800" cy="64800"/>
          </a:xfrm>
          <a:prstGeom prst="rect">
            <a:avLst/>
          </a:prstGeom>
          <a:solidFill>
            <a:srgbClr val="C6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878000" y="1432800"/>
            <a:ext cx="64800" cy="64800"/>
          </a:xfrm>
          <a:prstGeom prst="rect">
            <a:avLst/>
          </a:prstGeom>
          <a:solidFill>
            <a:srgbClr val="E8A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986000" y="1432800"/>
            <a:ext cx="64800" cy="64800"/>
          </a:xfrm>
          <a:prstGeom prst="rect">
            <a:avLst/>
          </a:prstGeom>
          <a:solidFill>
            <a:srgbClr val="5DB8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824000" y="1620000"/>
            <a:ext cx="4032000" cy="1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AF9F5"/>
                </a:solidFill>
              </a:rPr>
              <a:t>&gt; claude "Add rate-limit middleware…"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24000" y="1850400"/>
            <a:ext cx="4032000" cy="1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09D96"/>
                </a:solidFill>
              </a:rPr>
              <a:t>Reading src/app.ts, src/auth.ts, tests/ (14 files)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824000" y="2080800"/>
            <a:ext cx="4032000" cy="1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09D96"/>
                </a:solidFill>
              </a:rPr>
              <a:t>1.  Install express-rate-limit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24000" y="2196000"/>
            <a:ext cx="4032000" cy="1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09D96"/>
                </a:solidFill>
              </a:rPr>
              <a:t>2.  Create src/middleware/rateLimiter.ts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824000" y="2311200"/>
            <a:ext cx="4032000" cy="1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09D96"/>
                </a:solidFill>
              </a:rPr>
              <a:t>3.  Mount after authMiddleware in app.ts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824000" y="2541600"/>
            <a:ext cx="4032000" cy="1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DB872"/>
                </a:solidFill>
              </a:rPr>
              <a:t>✓  package.json updated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824000" y="2656800"/>
            <a:ext cx="4032000" cy="1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DB872"/>
                </a:solidFill>
              </a:rPr>
              <a:t>✓  rateLimiter.ts created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824000" y="2772000"/>
            <a:ext cx="4032000" cy="1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DB872"/>
                </a:solidFill>
              </a:rPr>
              <a:t>✓  app.ts patched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824000" y="2887200"/>
            <a:ext cx="4032000" cy="1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DB872"/>
                </a:solidFill>
              </a:rPr>
              <a:t>✓  All 14 tests passing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824000" y="3117600"/>
            <a:ext cx="4032000" cy="1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785C"/>
                </a:solidFill>
              </a:rPr>
              <a:t>Done. ▌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680000" y="3441600"/>
            <a:ext cx="1368000" cy="648000"/>
          </a:xfrm>
          <a:prstGeom prst="roundRect">
            <a:avLst>
              <a:gd name="adj" fmla="val 7894"/>
            </a:avLst>
          </a:prstGeom>
          <a:solidFill>
            <a:srgbClr val="252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860000" y="3567599"/>
            <a:ext cx="1008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AF9F5"/>
                </a:solidFill>
              </a:rPr>
              <a:t>Reads &amp; reasons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860000" y="3783600"/>
            <a:ext cx="1008000" cy="2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09D96"/>
                </a:solidFill>
              </a:rPr>
              <a:t>Full codebase before writing a line.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20000" y="3441600"/>
            <a:ext cx="1368000" cy="648000"/>
          </a:xfrm>
          <a:prstGeom prst="roundRect">
            <a:avLst>
              <a:gd name="adj" fmla="val 7894"/>
            </a:avLst>
          </a:prstGeom>
          <a:solidFill>
            <a:srgbClr val="252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300000" y="3567599"/>
            <a:ext cx="1008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AF9F5"/>
                </a:solidFill>
              </a:rPr>
              <a:t>Writes &amp; runs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00000" y="3783600"/>
            <a:ext cx="1008000" cy="2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09D96"/>
                </a:solidFill>
              </a:rPr>
              <a:t>Files edited. Tests run automatically.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560000" y="3441600"/>
            <a:ext cx="1368000" cy="648000"/>
          </a:xfrm>
          <a:prstGeom prst="roundRect">
            <a:avLst>
              <a:gd name="adj" fmla="val 7894"/>
            </a:avLst>
          </a:prstGeom>
          <a:solidFill>
            <a:srgbClr val="252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740000" y="3567599"/>
            <a:ext cx="1008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AF9F5"/>
                </a:solidFill>
              </a:rPr>
              <a:t>Iterates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740000" y="3783600"/>
            <a:ext cx="1008000" cy="2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09D96"/>
                </a:solidFill>
              </a:rPr>
              <a:t>Self-corrects if tests fail.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32000" y="4351500"/>
            <a:ext cx="8280000" cy="684000"/>
          </a:xfrm>
          <a:prstGeom prst="roundRect">
            <a:avLst>
              <a:gd name="adj" fmla="val 1304"/>
            </a:avLst>
          </a:prstGeom>
          <a:solidFill>
            <a:srgbClr val="CC7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83999" y="4423500"/>
            <a:ext cx="648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You're ready to build.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83999" y="4675500"/>
            <a:ext cx="648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Open Antigravity. Drop in a project. Send your first prompt.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272000" y="4549500"/>
            <a:ext cx="1224000" cy="27000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272000" y="4574700"/>
            <a:ext cx="1224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CC785C"/>
                </a:solidFill>
              </a:rPr>
              <a:t>Back to overview →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